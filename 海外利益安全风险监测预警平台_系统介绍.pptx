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98A2E"/>
                </a:solidFill>
                <a:latin typeface="Microsoft YaHei"/>
                <a:ea typeface="Microsoft YaHei"/>
              </a:rPr>
              <a:t>海外利益保护 · 系统汇报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7528" y="3611880"/>
            <a:ext cx="14630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8862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6E6"/>
                </a:solidFill>
                <a:latin typeface="Microsoft YaHei"/>
                <a:ea typeface="Microsoft YaHei"/>
              </a:rPr>
              <a:t>构建“监测—防范—合规”一体化运行体系，提升对海外资产、重大项目、重点机构、关键人员安全风险的动态感知、分析研判与应急支撑能力，服务国家海外安全战略、护航高水平对外开放。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44068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9FB3C9"/>
                </a:solidFill>
                <a:latin typeface="Microsoft YaHei"/>
                <a:ea typeface="Microsoft YaHei"/>
              </a:rPr>
              <a:t>依托国家安全学 · 法学 · 涉外法治研究力量（立足西南）　·　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汇 报 提 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REPORT OUTLINE · 九个部分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20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建设背景与战略意义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41448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41448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441448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政策依据与总体要求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65576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65576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65576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465576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总体思路与目标定位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9704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89704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9704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489704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平台总体架构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513832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513832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13832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513832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核心业务体系（六大环节）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417320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1417320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重点保护对象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41448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441448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441448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2441448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465576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465576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465576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3465576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成果产出与转化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489704"/>
            <a:ext cx="5257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4489704"/>
            <a:ext cx="86868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489704"/>
            <a:ext cx="868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B98A2E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7768" y="4489704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A2A3A"/>
                </a:solidFill>
                <a:latin typeface="Microsoft YaHei"/>
                <a:ea typeface="Microsoft YaHei"/>
              </a:rPr>
              <a:t>运行机制与建设安排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建设背景与战略意义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BACKGROUND &amp;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E1B32"/>
                </a:solidFill>
                <a:latin typeface="Microsoft YaHei"/>
                <a:ea typeface="Microsoft YaHei"/>
              </a:rPr>
              <a:t>一、形势与背景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440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开放纵深拓展：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境外投资存量持续扩大，对外承包工程与劳务合作遍布全球，“走出去”企业和人员规模庞大，海外利益已成为国家利益的重要组成部分。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风险交织叠加：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地缘冲突、政局动荡、恐怖袭击、法律合规壁垒、经贸摩擦与“长臂管辖”、涉华负面舆情等多元风险交织，突发性、隐蔽性、传导性显著增强。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现有手段滞后：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信息采集渠道分散、监测覆盖不足；研判标准不一、依赖经验；预警不及时、精准度不高；合规与争端支持薄弱，难以满足实战需要。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现实需求迫切：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亟需专业化、体系化平台，实现对风险的动态感知、分析研判与应急支撑，补齐实务短板。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E1B32"/>
                </a:solidFill>
                <a:latin typeface="Microsoft YaHei"/>
                <a:ea typeface="Microsoft YaHei"/>
              </a:rPr>
              <a:t>二、战略意义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贯彻总体国家安全观：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海外利益安全是国家安全的重要延伸，保护海外利益是统筹发展和安全、统筹开放和安全的必然要求。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服务国家海外安全战略：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为有关部门掌握海外安全态势、防范化解重大风险提供专业支撑，助力完善海外利益保护体系。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护航高水平对外开放：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为共建“一带一路”和中国企业“走出去”提供前置性、专业化安全保障，以高水平安全护航高水平开放。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推动产学研贯通：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将国家安全学、法学、涉外法治研究成果转化为实务能力，形成可复制可推广的制度、智库与实务成果。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政策依据与总体要求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POLICY BASIS &amp;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总体国家安全观：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坚持党对国家安全工作的绝对领导，以人民安全为宗旨、以政治安全为根本、以经济安全为基础，统筹外部安全和内部安全、国土安全和国民安全。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高水平对外开放战略：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稳步扩大制度型开放，推动共建“一带一路”高质量发展，统筹发展和安全两件大事，增强风险防控和合规经营能力。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海外利益保护有关部署：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加强境外安全风险评估、监测预警与应急处置，健全海外利益保护和风险预警防范体系，维护我国公民、法人在海外合法权益。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涉外法治建设要求：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加快涉外法治工作战略布局，强化涉外法律服务，善用法治方式应对挑战、防范风险、维护权益。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学理支撑：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以国家安全学、法学、涉外法治为理论基础，坚持依法依规、审慎稳妥，确保平台建设于法有据、运行规范。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9204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892040"/>
            <a:ext cx="91440" cy="15087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0017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Microsoft YaHei"/>
                <a:ea typeface="Microsoft YaHei"/>
              </a:rPr>
              <a:t>总体要求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39496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坚持党的全面领导，坚持统筹发展和安全，坚持预防为主、关口前移，坚持依法依规、内外统筹，坚持科技赋能、协同高效。按照“全域监测、精准研判、及时预警、有效防范”的要求，构建覆盖“监测—防范—合规”全链条、贯通“识别—评估—预警—处置”全过程的海外利益安全风险监测预警平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总体思路与目标定位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APPROACH &amp;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E1B32"/>
                </a:solidFill>
                <a:latin typeface="Microsoft YaHei"/>
                <a:ea typeface="Microsoft YaHei"/>
              </a:rPr>
              <a:t>总体思路：</a:t>
            </a:r>
            <a:r>
              <a:rPr sz="1400" b="0">
                <a:solidFill>
                  <a:srgbClr val="33455A"/>
                </a:solidFill>
                <a:latin typeface="Microsoft YaHei"/>
                <a:ea typeface="Microsoft YaHei"/>
              </a:rPr>
              <a:t>以“监测—防范—合规”一体化运行体系为主线，坚持需求导向、问题导向、实战导向，立足西南、服务全国、辐射周边，打造国家级海外利益安全风险监测预警平台。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1782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73152" cy="1120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002535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功能定位 · 动态监测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96311"/>
            <a:ext cx="4997196" cy="370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汇聚多源数据，对海外资产、项目、机构、人员安全风险开展全域、全时、立体化监测，建立风险指标库。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60" y="1874519"/>
            <a:ext cx="541782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5060" y="1874519"/>
            <a:ext cx="73152" cy="1120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2002535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功能定位 · 分析研判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2496311"/>
            <a:ext cx="4997196" cy="370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构建研判模型与专家会商机制，对风险进行定级、归因、关联分析与趋势预判。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23259"/>
            <a:ext cx="541782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23259"/>
            <a:ext cx="73152" cy="1120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51275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功能定位 · 风险预警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845051"/>
            <a:ext cx="4997196" cy="370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建立分级预警与精准推送机制，分级审核、闭环管理，做到早发现、早预警、早处置。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5060" y="3223259"/>
            <a:ext cx="541782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5060" y="3223259"/>
            <a:ext cx="73152" cy="1120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4516" y="3351275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功能定位 · 应急支撑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845051"/>
            <a:ext cx="4997196" cy="370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提供法治保障、合规支撑与争端应对，健全预案与协同处置，形成事前事中事后闭环。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26280"/>
            <a:ext cx="11064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91440" cy="18288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6360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Microsoft YaHei"/>
                <a:ea typeface="Microsoft YaHei"/>
              </a:rPr>
              <a:t>建设目标与原则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0292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用三到五年时间，建成覆盖重点国家和地区、贯通监测预警处置全链条的国家级平台，形成“立足西南、服务全国”的格局。坚持统筹兼顾、预防为主、依法依规、协同高效，横向到边、纵向到底，实现风险治理的全覆盖与闭环化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平台总体架构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OVERALL ARCHITECTURE · “监测—防范—合规”一体化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0" cy="7498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应用服务层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41732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41732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Microsoft YaHei"/>
                <a:ea typeface="Microsoft YaHei"/>
              </a:rPr>
              <a:t>四大保护对象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68824" y="161848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3999" y="141732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3999" y="141732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Microsoft YaHei"/>
                <a:ea typeface="Microsoft YaHei"/>
              </a:rPr>
              <a:t>三大核心能力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45423" y="161848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0599" y="141732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0599" y="141732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Microsoft YaHei"/>
                <a:ea typeface="Microsoft YaHei"/>
              </a:rPr>
              <a:t>三大成果产出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31720"/>
            <a:ext cx="1371600" cy="7498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31720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核心运行层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377439"/>
            <a:ext cx="3002280" cy="6583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2377439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B98A2E"/>
                </a:solidFill>
                <a:latin typeface="Microsoft YaHei"/>
                <a:ea typeface="Microsoft YaHei"/>
              </a:rPr>
              <a:t>风险监测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068824" y="257860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999" y="2377439"/>
            <a:ext cx="3002280" cy="6583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3999" y="2377439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B98A2E"/>
                </a:solidFill>
                <a:latin typeface="Microsoft YaHei"/>
                <a:ea typeface="Microsoft YaHei"/>
              </a:rPr>
              <a:t>风险研判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45423" y="257860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10599" y="2377439"/>
            <a:ext cx="3002280" cy="6583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0599" y="2377439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B98A2E"/>
                </a:solidFill>
                <a:latin typeface="Microsoft YaHei"/>
                <a:ea typeface="Microsoft YaHei"/>
              </a:rPr>
              <a:t>风险预警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1371600" cy="7498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91840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法治支撑层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33756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333756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9E1B32"/>
                </a:solidFill>
                <a:latin typeface="Microsoft YaHei"/>
                <a:ea typeface="Microsoft YaHei"/>
              </a:rPr>
              <a:t>法治保障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068824" y="353872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3999" y="333756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3999" y="333756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9E1B32"/>
                </a:solidFill>
                <a:latin typeface="Microsoft YaHei"/>
                <a:ea typeface="Microsoft YaHei"/>
              </a:rPr>
              <a:t>合规支撑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345423" y="353872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10599" y="333756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10599" y="333756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9E1B32"/>
                </a:solidFill>
                <a:latin typeface="Microsoft YaHei"/>
                <a:ea typeface="Microsoft YaHei"/>
              </a:rPr>
              <a:t>争端应对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51960"/>
            <a:ext cx="1371600" cy="7498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数据资源层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429768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429768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Microsoft YaHei"/>
                <a:ea typeface="Microsoft YaHei"/>
              </a:rPr>
              <a:t>多源数据汇聚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068824" y="449884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33999" y="429768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33999" y="429768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Microsoft YaHei"/>
                <a:ea typeface="Microsoft YaHei"/>
              </a:rPr>
              <a:t>风险指标库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345423" y="4498848"/>
            <a:ext cx="256032" cy="25603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10599" y="4297680"/>
            <a:ext cx="3002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0599" y="4297680"/>
            <a:ext cx="300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Microsoft YaHei"/>
                <a:ea typeface="Microsoft YaHei"/>
              </a:rPr>
              <a:t>规则库·案例库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257800"/>
            <a:ext cx="91440" cy="1143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3675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Microsoft YaHei"/>
                <a:ea typeface="Microsoft YaHei"/>
              </a:rPr>
              <a:t>运行主线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57607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“监测—防范—合规”一体化贯通——数据层提供多源数据与知识支撑，运行层形成“监测—研判—预警”闭环，支撑层提供法治合规与争端处置，应用层面向四类对象、输出三大能力、形成三大成果，并依托大数据、知识图谱与模型引擎提供技术赋能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核心业务体系① · 风险监测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RISK MONITORING · 全域全时 多源立体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4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931920"/>
                <a:gridCol w="5394960"/>
              </a:tblGrid>
              <a:tr h="53035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监测维度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主要风险类型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重点关注要点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政治风险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政局变动、政策转向、选举更迭、外交关系变化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政权稳定性、对华政策取向、地缘政治走向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安全风险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武装冲突、暴恐袭击、社会治安、公共卫生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冲突烈度、袭击目标、人员聚集区安全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法律风险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立法变化、司法环境、执法随意性、国有化征收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外资准入、劳动税务、司法独立与效率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合规风险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制裁、出口管制、反腐败、数据跨境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制裁清单、管制规则、长臂管辖风险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舆情风险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负面舆论、抹黑炒作、社会情绪、排外倾向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涉华舆情走向、项目社区关系、媒体立场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经营风险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市场波动、汇率债务、合作方信用、供应链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宏观指标、债务可持续、合作方履约能力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074920"/>
            <a:ext cx="11064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074920"/>
            <a:ext cx="91440" cy="132588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8464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Microsoft YaHei"/>
                <a:ea typeface="Microsoft YaHei"/>
              </a:rPr>
              <a:t>数据来源与监测方式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778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整合公开情报、官方通报、驻外机构与商协会信息、企业报送、媒体舆情与商业数据库，采取“机器采集＋人工研判＋专家核验”相结合，对重点国家、重点行业、重点项目实行常态化跟踪，分类分级建立风险指标库，覆盖海外资产、重大项目、重点机构、关键人员四类核心载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核心业务体系② · 风险研判与预警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ASSESSMENT &amp; EARLY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E1B32"/>
                </a:solidFill>
                <a:latin typeface="Microsoft YaHei"/>
                <a:ea typeface="Microsoft YaHei"/>
              </a:rPr>
              <a:t>研判方法：</a:t>
            </a:r>
            <a:r>
              <a:rPr sz="1300" b="0">
                <a:solidFill>
                  <a:srgbClr val="33455A"/>
                </a:solidFill>
                <a:latin typeface="Microsoft YaHei"/>
                <a:ea typeface="Microsoft YaHei"/>
              </a:rPr>
              <a:t>定性定量相结合，构建“发生可能性×影响程度”二维评估矩阵，辅以前瞻性情景推演与跨领域专家会商，对风险进行定级、归因与关联分析。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74519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3291840"/>
                <a:gridCol w="4023360"/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预警级别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颜色标识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含义判定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响应措施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Ⅰ级（特别重大）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红色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风险极高、随时可能发生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启动应急响应，建议立即撤离/避险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Ⅱ级（重大）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橙色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风险高、近期可能发生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加强防范，制定并启动处置预案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Ⅲ级（较大）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黄色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风险较高、需持续警惕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重点提示，强化监测与预防措施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Ⅳ级（一般）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蓝色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存在一般性风险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日常关注，纳入常态化监测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4360" y="4937760"/>
            <a:ext cx="1706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937760"/>
            <a:ext cx="1706880" cy="7315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170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E1B32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170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3455A"/>
                </a:solidFill>
                <a:latin typeface="Microsoft YaHei"/>
                <a:ea typeface="Microsoft YaHei"/>
              </a:rPr>
              <a:t>信息汇集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8400" y="4937760"/>
            <a:ext cx="1706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4937760"/>
            <a:ext cx="1706880" cy="7315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400" y="5120640"/>
            <a:ext cx="170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E1B32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5623560"/>
            <a:ext cx="170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3455A"/>
                </a:solidFill>
                <a:latin typeface="Microsoft YaHei"/>
                <a:ea typeface="Microsoft YaHei"/>
              </a:rPr>
              <a:t>分析研判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2440" y="4937760"/>
            <a:ext cx="1706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2440" y="4937760"/>
            <a:ext cx="1706880" cy="7315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40" y="5120640"/>
            <a:ext cx="170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E1B32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2440" y="5623560"/>
            <a:ext cx="170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3455A"/>
                </a:solidFill>
                <a:latin typeface="Microsoft YaHei"/>
                <a:ea typeface="Microsoft YaHei"/>
              </a:rPr>
              <a:t>等级评定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4937760"/>
            <a:ext cx="1706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4937760"/>
            <a:ext cx="1706880" cy="7315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5120640"/>
            <a:ext cx="170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E1B32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5623560"/>
            <a:ext cx="170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3455A"/>
                </a:solidFill>
                <a:latin typeface="Microsoft YaHei"/>
                <a:ea typeface="Microsoft YaHei"/>
              </a:rPr>
              <a:t>审核签发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0519" y="4937760"/>
            <a:ext cx="1706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0519" y="4937760"/>
            <a:ext cx="1706880" cy="7315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0519" y="5120640"/>
            <a:ext cx="170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E1B32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0519" y="5623560"/>
            <a:ext cx="170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3455A"/>
                </a:solidFill>
                <a:latin typeface="Microsoft YaHei"/>
                <a:ea typeface="Microsoft YaHei"/>
              </a:rPr>
              <a:t>精准推送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4559" y="4937760"/>
            <a:ext cx="1706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14559" y="4937760"/>
            <a:ext cx="1706880" cy="7315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14559" y="5120640"/>
            <a:ext cx="170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E1B32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4559" y="5623560"/>
            <a:ext cx="170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3455A"/>
                </a:solidFill>
                <a:latin typeface="Microsoft YaHei"/>
                <a:ea typeface="Microsoft YaHei"/>
              </a:rPr>
              <a:t>跟踪解除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核心业务体系③ · 法治保障 合规支撑 争端应对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LEGAL · COMPLIANCE · DISPUTE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535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47548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3151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法治保障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3115056" cy="4005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建设涉外法治规则库与法律适用指引；开展东道国法律环境与投资保护评估；提供双边投资保护协定、国际规则解读；为维权行动提供制度与法律依据支撑。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920" y="1463040"/>
            <a:ext cx="3535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2920" y="1463040"/>
            <a:ext cx="73152" cy="47548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1591056"/>
            <a:ext cx="3151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合规支撑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2084832"/>
            <a:ext cx="3115056" cy="4005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提供国别（地区）合规指引；开展制裁、出口管制、反腐败、数据合规筛查与风险评估；辅导企业合规体系建设、尽职调查与风险排查；出具合规审查意见。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7200" y="1463040"/>
            <a:ext cx="3535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1463040"/>
            <a:ext cx="73152" cy="47548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656" y="1591056"/>
            <a:ext cx="3151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争端应对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656" y="2084832"/>
            <a:ext cx="3115056" cy="4005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构建海外投资、贸易、工程争端应对机制；支持协商、调解、仲裁、诉讼等路径选择；建设争端案例库与应对预案；联动专业力量提供全流程争端解决支持。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重点保护对象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PROTECTED OBJECTS · 精准守护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海外资产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涵盖主权财富、能源资源、金融资产及重大实体资产，重点监测主权信用、政策变动、国有化与安全风险，建立资产风险台账，保障资产安全与保值增值。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5060" y="146304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46304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159105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重大项目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08483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聚焦“一带一路”标志性项目及重大投资、工程、能源、产能合作，围绕政治、安全、履约、舆情等风险开展全周期跟踪，保障项目顺利推进。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5478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5478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8279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重点机构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57657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守护驻外使领馆、商协会、境外中资企业、金融机构与科研文化机构，强化安全预警、应急联动与领事保护衔接，保障机构正常运转。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395478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395478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4516" y="408279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关键人员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457657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保障境外管理人员、技术人员与安保人员人身安全，建立人员风险档案与撤离转移预案，强化行前培训、在岗防护与紧急救助衔接。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动态感知能力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依托多源数据融合与常态化监测网络，对海外安全风险实现全天候、多维度实时感知，显著缩短从风险信号出现到认知判断的时间差。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5060" y="146304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46304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159105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分析研判能力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08483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以指标体系与研判模型为支撑，结合跨领域专家网络对复杂风险进行深度研判、关联分析与趋势预判，提升决策科学性与前瞻性。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5478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5478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8279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应急支撑能力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57657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健全应急预案、协调联动与处置支持机制，形成“监测—防范—合规”应急处置闭环，提升突发事件实战支撑水平。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395478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395478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4516" y="408279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协同联动能力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457657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贯通政府、企业、商协会与专业机构，实现信息共享、资源协同与联合处置，构建多方协同的海外利益保护合力。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成果产出与转化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OUTCOMES &amp;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535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2743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3151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制度成果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311505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形成海外利益保护工作机制、标准规范与制度建议，为有关部门完善治理体系提供参考。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920" y="1463040"/>
            <a:ext cx="3535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2920" y="1463040"/>
            <a:ext cx="73152" cy="2743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1591056"/>
            <a:ext cx="3151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智库成果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2084832"/>
            <a:ext cx="311505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产出风险地图、专题研究报告与决策建议，服务政府决策与企业海外布局。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7200" y="1463040"/>
            <a:ext cx="3535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1463040"/>
            <a:ext cx="73152" cy="2743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656" y="1591056"/>
            <a:ext cx="3151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实务成果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656" y="2084832"/>
            <a:ext cx="311505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形成预警产品、合规工具与争端应对方案，直接服务“走出去”一线实务需求。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91440" cy="178308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5445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Microsoft YaHei"/>
                <a:ea typeface="Microsoft YaHei"/>
              </a:rPr>
              <a:t>成果转化路径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937760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报送 → 发布 → 培训 → 推广：重要成果及时报送主管部门，面向企业发布风险预警与合规产品，开展专题培训并推动示范应用，实现“研究—转化—应用”良性循环，持续提升平台实效。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运行机制与保障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MECHANISM &amp; SAFEGUARDS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组织保障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设立平台工作专班与专家委员会，明确职责分工与协同机制，确保高效运转。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5060" y="146304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46304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159105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数据保障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08483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建立数据汇聚、共享与安全管理制度，落实分级分类保护与保密管理要求。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5478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5478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8279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制度保障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57657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制定监测预警、研判发布、应急处置等工作规程，实现规范化、标准化运行。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3954780"/>
            <a:ext cx="5417820" cy="2263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3954780"/>
            <a:ext cx="73152" cy="22631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4516" y="4082796"/>
            <a:ext cx="50337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Microsoft YaHei"/>
                <a:ea typeface="Microsoft YaHei"/>
              </a:rPr>
              <a:t>人才保障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4576572"/>
            <a:ext cx="4997196" cy="1513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组建国家安全学、法学、涉外法治跨学科团队，加强人才培养与国际交流。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1024128"/>
            <a:ext cx="12063679" cy="4114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98A2E"/>
                </a:solidFill>
                <a:latin typeface="Microsoft YaHei"/>
                <a:ea typeface="Microsoft YaHei"/>
              </a:rPr>
              <a:t>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应用场景与建设安排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9C6D6"/>
                </a:solidFill>
                <a:latin typeface="Microsoft YaHei"/>
                <a:ea typeface="Microsoft YaHei"/>
              </a:rPr>
              <a:t>SCENARIOS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7200"/>
            <a:ext cx="3383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0" b="1">
                <a:solidFill>
                  <a:srgbClr val="E3E9F0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重大决策支撑：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为国家海外安全战略与重大海外布局提供态势感知与决策参考。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突发事件应对：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对海外安全事件快速预警、协同处置，最大限度减少损失。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B98A2E"/>
                </a:solidFill>
                <a:latin typeface="Microsoft YaHei"/>
                <a:ea typeface="Microsoft YaHei"/>
              </a:rPr>
              <a:t>■ </a:t>
            </a:r>
            <a:r>
              <a:rPr sz="1350" b="1">
                <a:solidFill>
                  <a:srgbClr val="1A2A3A"/>
                </a:solidFill>
                <a:latin typeface="Microsoft YaHei"/>
                <a:ea typeface="Microsoft YaHei"/>
              </a:rPr>
              <a:t>企业合规服务：</a:t>
            </a:r>
            <a:r>
              <a:rPr sz="1350" b="0">
                <a:solidFill>
                  <a:srgbClr val="33455A"/>
                </a:solidFill>
                <a:latin typeface="Microsoft YaHei"/>
                <a:ea typeface="Microsoft YaHei"/>
              </a:rPr>
              <a:t>面向“走出去”企业提供风险评估、合规指引与争端应对支持。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108960"/>
          <a:ext cx="110642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7406640"/>
              </a:tblGrid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建设阶段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时间安排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主要任务</a:t>
                      </a:r>
                    </a:p>
                  </a:txBody>
                  <a:tcPr marL="73152" marR="73152" marT="27432" marB="27432" anchor="ctr">
                    <a:solidFill>
                      <a:srgbClr val="0A25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夯基垒台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近期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完成数据资源与指标体系搭建，组建团队，建立基本运行制度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积厚成势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中期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完善监测研判预警全链条能力，形成稳定成果产出与服务能力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A3A"/>
                          </a:solidFill>
                          <a:latin typeface="Microsoft YaHei"/>
                          <a:ea typeface="Microsoft YaHei"/>
                        </a:rPr>
                        <a:t>引领示范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远期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455A"/>
                          </a:solidFill>
                          <a:latin typeface="Microsoft YaHei"/>
                          <a:ea typeface="Microsoft YaHei"/>
                        </a:rPr>
                        <a:t>建成国家级平台，形成可复制可推广的制度、智库与实务成果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440680"/>
            <a:ext cx="91440" cy="86868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5504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Microsoft YaHei"/>
                <a:ea typeface="Microsoft YaHei"/>
              </a:rPr>
              <a:t>保障措施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943600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455A"/>
                </a:solidFill>
                <a:latin typeface="Microsoft YaHei"/>
                <a:ea typeface="Microsoft YaHei"/>
              </a:rPr>
              <a:t>落实组织、数据、制度、人才四类保障，强化保密管理与网络安全，确保平台安全稳定运行、成果持续转化。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228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5667A"/>
                </a:solidFill>
                <a:latin typeface="Microsoft YaHei"/>
                <a:ea typeface="Microsoft YaHei"/>
              </a:rPr>
              <a:t>海外利益安全风险监测预警平台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836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B98A2E"/>
                </a:solidFill>
                <a:latin typeface="Microsoft YaHei"/>
                <a:ea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98A2E"/>
                </a:solidFill>
                <a:latin typeface="Microsoft YaHei"/>
                <a:ea typeface="Microsoft YaHei"/>
              </a:rPr>
              <a:t>结　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以高水平安全　护航高水平开放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7528" y="3429000"/>
            <a:ext cx="14630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749039"/>
            <a:ext cx="9052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C9D6E6"/>
                </a:solidFill>
                <a:latin typeface="Microsoft YaHei"/>
                <a:ea typeface="Microsoft YaHei"/>
              </a:rPr>
              <a:t>立足西南、服务全国，持续提升动态感知、分析研判与应急支撑能力，为维护国家海外利益、服务国家海外安全战略贡献专业力量。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34924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3C9"/>
                </a:solidFill>
                <a:latin typeface="Microsoft YaHei"/>
                <a:ea typeface="Microsoft YaHei"/>
              </a:rPr>
              <a:t>恳请领导批评指正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